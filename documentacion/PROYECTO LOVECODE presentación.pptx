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8D2A78-4441-4BEA-866D-EA818D271B5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4B3D06-3B03-46A7-825E-502752D32584}">
      <dgm:prSet/>
      <dgm:spPr/>
      <dgm:t>
        <a:bodyPr/>
        <a:lstStyle/>
        <a:p>
          <a:r>
            <a:rPr lang="es-ES"/>
            <a:t>El proyecto ha sido desarrollado utilizando una arquitectura cliente-servidor compuesta por un frontend web, un backend en Java y una base de datos MariaDB. Cuando dos usuarios se dan like mutuamente, el sistema genera automáticamente un match, que queda registrado en la base de datos y además se almacena en un archivo XML.</a:t>
          </a:r>
          <a:endParaRPr lang="en-US"/>
        </a:p>
      </dgm:t>
    </dgm:pt>
    <dgm:pt modelId="{E3C7B6C4-9DCA-4683-A7FE-840C3C5D2548}" type="parTrans" cxnId="{56C265E1-09F6-468F-8FA5-8FD89F110310}">
      <dgm:prSet/>
      <dgm:spPr/>
      <dgm:t>
        <a:bodyPr/>
        <a:lstStyle/>
        <a:p>
          <a:endParaRPr lang="en-US"/>
        </a:p>
      </dgm:t>
    </dgm:pt>
    <dgm:pt modelId="{31023949-AB66-41CE-9202-D9B811698DE7}" type="sibTrans" cxnId="{56C265E1-09F6-468F-8FA5-8FD89F110310}">
      <dgm:prSet/>
      <dgm:spPr/>
      <dgm:t>
        <a:bodyPr/>
        <a:lstStyle/>
        <a:p>
          <a:endParaRPr lang="en-US"/>
        </a:p>
      </dgm:t>
    </dgm:pt>
    <dgm:pt modelId="{39A174A2-9695-4B11-A8BA-AA5A9B97B855}">
      <dgm:prSet/>
      <dgm:spPr/>
      <dgm:t>
        <a:bodyPr/>
        <a:lstStyle/>
        <a:p>
          <a:r>
            <a:rPr lang="es-ES"/>
            <a:t>Con este proyecto se han aplicado conocimientos de desarrollo web, programación orientada a objetos, bases de datos relacionales, consultas SQL, triggers, procedimientos almacenados, generación de archivos XML y control de versiones mediante GitHub. El resultado es una aplicación funcional que integra diferentes tecnologías estudiadas durante el ciclo formativo y permite comprender el funcionamiento completo de un sistema cliente-servidor.</a:t>
          </a:r>
          <a:endParaRPr lang="en-US"/>
        </a:p>
      </dgm:t>
    </dgm:pt>
    <dgm:pt modelId="{D59437A7-9990-46E9-B983-850722DF2D22}" type="parTrans" cxnId="{382E2A93-0368-486B-B93B-883A37558E03}">
      <dgm:prSet/>
      <dgm:spPr/>
      <dgm:t>
        <a:bodyPr/>
        <a:lstStyle/>
        <a:p>
          <a:endParaRPr lang="en-US"/>
        </a:p>
      </dgm:t>
    </dgm:pt>
    <dgm:pt modelId="{27D096ED-8579-4310-A956-9D961219E918}" type="sibTrans" cxnId="{382E2A93-0368-486B-B93B-883A37558E03}">
      <dgm:prSet/>
      <dgm:spPr/>
      <dgm:t>
        <a:bodyPr/>
        <a:lstStyle/>
        <a:p>
          <a:endParaRPr lang="en-US"/>
        </a:p>
      </dgm:t>
    </dgm:pt>
    <dgm:pt modelId="{06BDE82F-E888-4666-883C-490E2FB8FFFC}" type="pres">
      <dgm:prSet presAssocID="{498D2A78-4441-4BEA-866D-EA818D271B5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7CD414-3E7D-4FBF-85E9-536C455D19EF}" type="pres">
      <dgm:prSet presAssocID="{444B3D06-3B03-46A7-825E-502752D32584}" presName="hierRoot1" presStyleCnt="0"/>
      <dgm:spPr/>
    </dgm:pt>
    <dgm:pt modelId="{4F0D18A8-083D-49C9-ADDC-7A6E076A4441}" type="pres">
      <dgm:prSet presAssocID="{444B3D06-3B03-46A7-825E-502752D32584}" presName="composite" presStyleCnt="0"/>
      <dgm:spPr/>
    </dgm:pt>
    <dgm:pt modelId="{929CFF36-44FB-4F68-8179-E6B6D5436F26}" type="pres">
      <dgm:prSet presAssocID="{444B3D06-3B03-46A7-825E-502752D32584}" presName="background" presStyleLbl="node0" presStyleIdx="0" presStyleCnt="2"/>
      <dgm:spPr/>
    </dgm:pt>
    <dgm:pt modelId="{132447DC-C956-4F75-9DAA-925B787F9F28}" type="pres">
      <dgm:prSet presAssocID="{444B3D06-3B03-46A7-825E-502752D32584}" presName="text" presStyleLbl="fgAcc0" presStyleIdx="0" presStyleCnt="2">
        <dgm:presLayoutVars>
          <dgm:chPref val="3"/>
        </dgm:presLayoutVars>
      </dgm:prSet>
      <dgm:spPr/>
    </dgm:pt>
    <dgm:pt modelId="{4C8E5B94-DA02-4020-9D6D-0E4CD6738A0C}" type="pres">
      <dgm:prSet presAssocID="{444B3D06-3B03-46A7-825E-502752D32584}" presName="hierChild2" presStyleCnt="0"/>
      <dgm:spPr/>
    </dgm:pt>
    <dgm:pt modelId="{470050CC-9A41-4823-A24C-16C858308152}" type="pres">
      <dgm:prSet presAssocID="{39A174A2-9695-4B11-A8BA-AA5A9B97B855}" presName="hierRoot1" presStyleCnt="0"/>
      <dgm:spPr/>
    </dgm:pt>
    <dgm:pt modelId="{236A7C51-F39F-409D-B062-7E82AA1FFADC}" type="pres">
      <dgm:prSet presAssocID="{39A174A2-9695-4B11-A8BA-AA5A9B97B855}" presName="composite" presStyleCnt="0"/>
      <dgm:spPr/>
    </dgm:pt>
    <dgm:pt modelId="{29B39571-0B11-4267-A48B-70AD7337C4E6}" type="pres">
      <dgm:prSet presAssocID="{39A174A2-9695-4B11-A8BA-AA5A9B97B855}" presName="background" presStyleLbl="node0" presStyleIdx="1" presStyleCnt="2"/>
      <dgm:spPr/>
    </dgm:pt>
    <dgm:pt modelId="{9FF170AE-8EAC-4DD6-B1E0-4156CA71E589}" type="pres">
      <dgm:prSet presAssocID="{39A174A2-9695-4B11-A8BA-AA5A9B97B855}" presName="text" presStyleLbl="fgAcc0" presStyleIdx="1" presStyleCnt="2">
        <dgm:presLayoutVars>
          <dgm:chPref val="3"/>
        </dgm:presLayoutVars>
      </dgm:prSet>
      <dgm:spPr/>
    </dgm:pt>
    <dgm:pt modelId="{8D0BB214-3EDF-4335-8A0B-2EBFF267BE98}" type="pres">
      <dgm:prSet presAssocID="{39A174A2-9695-4B11-A8BA-AA5A9B97B855}" presName="hierChild2" presStyleCnt="0"/>
      <dgm:spPr/>
    </dgm:pt>
  </dgm:ptLst>
  <dgm:cxnLst>
    <dgm:cxn modelId="{2BFD8103-DBC4-469D-920C-D7FC7E5F8771}" type="presOf" srcId="{444B3D06-3B03-46A7-825E-502752D32584}" destId="{132447DC-C956-4F75-9DAA-925B787F9F28}" srcOrd="0" destOrd="0" presId="urn:microsoft.com/office/officeart/2005/8/layout/hierarchy1"/>
    <dgm:cxn modelId="{382E2A93-0368-486B-B93B-883A37558E03}" srcId="{498D2A78-4441-4BEA-866D-EA818D271B5F}" destId="{39A174A2-9695-4B11-A8BA-AA5A9B97B855}" srcOrd="1" destOrd="0" parTransId="{D59437A7-9990-46E9-B983-850722DF2D22}" sibTransId="{27D096ED-8579-4310-A956-9D961219E918}"/>
    <dgm:cxn modelId="{315960D0-D078-4B6D-A5B4-357279BFFA9D}" type="presOf" srcId="{498D2A78-4441-4BEA-866D-EA818D271B5F}" destId="{06BDE82F-E888-4666-883C-490E2FB8FFFC}" srcOrd="0" destOrd="0" presId="urn:microsoft.com/office/officeart/2005/8/layout/hierarchy1"/>
    <dgm:cxn modelId="{8BB33DD8-7CF0-4E8E-8140-ACC520114FBC}" type="presOf" srcId="{39A174A2-9695-4B11-A8BA-AA5A9B97B855}" destId="{9FF170AE-8EAC-4DD6-B1E0-4156CA71E589}" srcOrd="0" destOrd="0" presId="urn:microsoft.com/office/officeart/2005/8/layout/hierarchy1"/>
    <dgm:cxn modelId="{56C265E1-09F6-468F-8FA5-8FD89F110310}" srcId="{498D2A78-4441-4BEA-866D-EA818D271B5F}" destId="{444B3D06-3B03-46A7-825E-502752D32584}" srcOrd="0" destOrd="0" parTransId="{E3C7B6C4-9DCA-4683-A7FE-840C3C5D2548}" sibTransId="{31023949-AB66-41CE-9202-D9B811698DE7}"/>
    <dgm:cxn modelId="{08A04702-5E83-4DA0-888A-0D97A224CFD4}" type="presParOf" srcId="{06BDE82F-E888-4666-883C-490E2FB8FFFC}" destId="{C07CD414-3E7D-4FBF-85E9-536C455D19EF}" srcOrd="0" destOrd="0" presId="urn:microsoft.com/office/officeart/2005/8/layout/hierarchy1"/>
    <dgm:cxn modelId="{5006BF0E-1FDD-4205-86E2-BAE4077F41B2}" type="presParOf" srcId="{C07CD414-3E7D-4FBF-85E9-536C455D19EF}" destId="{4F0D18A8-083D-49C9-ADDC-7A6E076A4441}" srcOrd="0" destOrd="0" presId="urn:microsoft.com/office/officeart/2005/8/layout/hierarchy1"/>
    <dgm:cxn modelId="{23ED3C4C-5E27-4C42-A6DB-DD07FF9D464B}" type="presParOf" srcId="{4F0D18A8-083D-49C9-ADDC-7A6E076A4441}" destId="{929CFF36-44FB-4F68-8179-E6B6D5436F26}" srcOrd="0" destOrd="0" presId="urn:microsoft.com/office/officeart/2005/8/layout/hierarchy1"/>
    <dgm:cxn modelId="{54C60EB8-D36C-4A6A-A79D-0005ADC6D3E8}" type="presParOf" srcId="{4F0D18A8-083D-49C9-ADDC-7A6E076A4441}" destId="{132447DC-C956-4F75-9DAA-925B787F9F28}" srcOrd="1" destOrd="0" presId="urn:microsoft.com/office/officeart/2005/8/layout/hierarchy1"/>
    <dgm:cxn modelId="{2E7C6C66-8AC3-4F90-846A-FB8DF8C62DD8}" type="presParOf" srcId="{C07CD414-3E7D-4FBF-85E9-536C455D19EF}" destId="{4C8E5B94-DA02-4020-9D6D-0E4CD6738A0C}" srcOrd="1" destOrd="0" presId="urn:microsoft.com/office/officeart/2005/8/layout/hierarchy1"/>
    <dgm:cxn modelId="{C034A7B9-E5B7-4AEA-9F71-CEFD3ED339F5}" type="presParOf" srcId="{06BDE82F-E888-4666-883C-490E2FB8FFFC}" destId="{470050CC-9A41-4823-A24C-16C858308152}" srcOrd="1" destOrd="0" presId="urn:microsoft.com/office/officeart/2005/8/layout/hierarchy1"/>
    <dgm:cxn modelId="{D31039B3-89A3-4DCA-B7CB-AAD77C37D4DB}" type="presParOf" srcId="{470050CC-9A41-4823-A24C-16C858308152}" destId="{236A7C51-F39F-409D-B062-7E82AA1FFADC}" srcOrd="0" destOrd="0" presId="urn:microsoft.com/office/officeart/2005/8/layout/hierarchy1"/>
    <dgm:cxn modelId="{CD1DD965-D2B8-4177-838D-10D194B9BF77}" type="presParOf" srcId="{236A7C51-F39F-409D-B062-7E82AA1FFADC}" destId="{29B39571-0B11-4267-A48B-70AD7337C4E6}" srcOrd="0" destOrd="0" presId="urn:microsoft.com/office/officeart/2005/8/layout/hierarchy1"/>
    <dgm:cxn modelId="{3592F291-5D47-492D-ACD5-670176593BAD}" type="presParOf" srcId="{236A7C51-F39F-409D-B062-7E82AA1FFADC}" destId="{9FF170AE-8EAC-4DD6-B1E0-4156CA71E589}" srcOrd="1" destOrd="0" presId="urn:microsoft.com/office/officeart/2005/8/layout/hierarchy1"/>
    <dgm:cxn modelId="{481EDF38-C2C7-4BAE-985E-39501F2478A0}" type="presParOf" srcId="{470050CC-9A41-4823-A24C-16C858308152}" destId="{8D0BB214-3EDF-4335-8A0B-2EBFF267BE9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CFF36-44FB-4F68-8179-E6B6D5436F26}">
      <dsp:nvSpPr>
        <dsp:cNvPr id="0" name=""/>
        <dsp:cNvSpPr/>
      </dsp:nvSpPr>
      <dsp:spPr>
        <a:xfrm>
          <a:off x="136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447DC-C956-4F75-9DAA-925B787F9F28}">
      <dsp:nvSpPr>
        <dsp:cNvPr id="0" name=""/>
        <dsp:cNvSpPr/>
      </dsp:nvSpPr>
      <dsp:spPr>
        <a:xfrm>
          <a:off x="53251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El proyecto ha sido desarrollado utilizando una arquitectura cliente-servidor compuesta por un frontend web, un backend en Java y una base de datos MariaDB. Cuando dos usuarios se dan like mutuamente, el sistema genera automáticamente un match, que queda registrado en la base de datos y además se almacena en un archivo XML.</a:t>
          </a:r>
          <a:endParaRPr lang="en-US" sz="1700" kern="1200"/>
        </a:p>
      </dsp:txBody>
      <dsp:txXfrm>
        <a:off x="621423" y="707003"/>
        <a:ext cx="4602566" cy="2857726"/>
      </dsp:txXfrm>
    </dsp:sp>
    <dsp:sp modelId="{29B39571-0B11-4267-A48B-70AD7337C4E6}">
      <dsp:nvSpPr>
        <dsp:cNvPr id="0" name=""/>
        <dsp:cNvSpPr/>
      </dsp:nvSpPr>
      <dsp:spPr>
        <a:xfrm>
          <a:off x="584405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170AE-8EAC-4DD6-B1E0-4156CA71E589}">
      <dsp:nvSpPr>
        <dsp:cNvPr id="0" name=""/>
        <dsp:cNvSpPr/>
      </dsp:nvSpPr>
      <dsp:spPr>
        <a:xfrm>
          <a:off x="637520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Con este proyecto se han aplicado conocimientos de desarrollo web, programación orientada a objetos, bases de datos relacionales, consultas SQL, triggers, procedimientos almacenados, generación de archivos XML y control de versiones mediante GitHub. El resultado es una aplicación funcional que integra diferentes tecnologías estudiadas durante el ciclo formativo y permite comprender el funcionamiento completo de un sistema cliente-servidor.</a:t>
          </a:r>
          <a:endParaRPr lang="en-US" sz="1700" kern="1200"/>
        </a:p>
      </dsp:txBody>
      <dsp:txXfrm>
        <a:off x="6464113" y="707003"/>
        <a:ext cx="4602566" cy="2857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4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2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2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4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3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0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1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5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22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ABC350-C617-BE52-2BA9-2CF493FB3C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970" b="676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C0A55A9-D05F-0FD5-652D-FFFB53ABA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       PROYECTO LOVECODE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4002C1-7C55-5F0B-2087-7374AF611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s-ES" sz="2400" dirty="0">
                <a:solidFill>
                  <a:srgbClr val="FFFFFF"/>
                </a:solidFill>
              </a:rPr>
              <a:t>Manuel</a:t>
            </a:r>
          </a:p>
          <a:p>
            <a:r>
              <a:rPr lang="es-ES" sz="2400" dirty="0">
                <a:solidFill>
                  <a:srgbClr val="FFFFFF"/>
                </a:solidFill>
              </a:rPr>
              <a:t>Rossi</a:t>
            </a:r>
          </a:p>
          <a:p>
            <a:r>
              <a:rPr lang="es-ES" sz="2400" dirty="0">
                <a:solidFill>
                  <a:srgbClr val="FFFFFF"/>
                </a:solidFill>
              </a:rPr>
              <a:t>López      1ªDAW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81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94C7F6-8D20-A190-C8A4-7F51BBDA7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s-ES" dirty="0"/>
              <a:t>Introducción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DFCB2F1-3914-0194-BAF3-CDB9660BB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071895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164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C4973-CB46-3D4D-E4A1-C549FE2A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30936"/>
            <a:ext cx="11155680" cy="1463040"/>
          </a:xfrm>
        </p:spPr>
        <p:txBody>
          <a:bodyPr/>
          <a:lstStyle/>
          <a:p>
            <a:r>
              <a:rPr lang="es-ES" dirty="0"/>
              <a:t>Objetivos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DF520A-4951-234A-30FD-5CA6E7BF3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s-ES" dirty="0"/>
            </a:br>
            <a:br>
              <a:rPr lang="es-ES" dirty="0"/>
            </a:br>
            <a:endParaRPr lang="es-ES" dirty="0"/>
          </a:p>
          <a:p>
            <a:endParaRPr lang="es-E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97169F-287B-9AFD-5FA2-2E44B8106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1720840"/>
            <a:ext cx="100309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Desarrollar una aplicación web de citas orientada a personas interesadas en la tecnología y la programación.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 un sistema completo de registro e inicio de sesión de usuarios.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Gestionar la información de los usuarios mediante una base de datos relacional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MariaDB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Permitir la visualización de perfiles y la interacción mediante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Detectar automáticamente coincidencias (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cuando dos usuarios se dan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mutuamente.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Aplicar conocimientos de programación Java, SQL, HTML, CSS y JavaScript en un proyecto real.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 herramientas de control de versiones y gestión de proyectos mediante GitHub.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Integrar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base de datos en una arquitectura cliente-servidor funcional. </a:t>
            </a:r>
          </a:p>
        </p:txBody>
      </p:sp>
    </p:spTree>
    <p:extLst>
      <p:ext uri="{BB962C8B-B14F-4D97-AF65-F5344CB8AC3E}">
        <p14:creationId xmlns:p14="http://schemas.microsoft.com/office/powerpoint/2010/main" val="2919937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585A03-4F1C-82D7-9DC2-9AB14903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642080"/>
            <a:ext cx="10936961" cy="57045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ES" sz="4800" b="1" dirty="0"/>
              <a:t>Arquitectura del Sistema</a:t>
            </a:r>
          </a:p>
          <a:p>
            <a:pPr marL="0" indent="0">
              <a:buNone/>
            </a:pPr>
            <a:r>
              <a:rPr lang="es-ES" sz="4800" dirty="0" err="1"/>
              <a:t>LoveCode</a:t>
            </a:r>
            <a:r>
              <a:rPr lang="es-ES" sz="4800" dirty="0"/>
              <a:t> sigue una arquitectura cliente-servidor dividida en tres capas principales:</a:t>
            </a:r>
          </a:p>
          <a:p>
            <a:pPr marL="0" indent="0">
              <a:buNone/>
            </a:pPr>
            <a:r>
              <a:rPr lang="es-ES" sz="4800" b="1" dirty="0" err="1"/>
              <a:t>Frontend</a:t>
            </a:r>
            <a:endParaRPr lang="es-ES" sz="4800" b="1" dirty="0"/>
          </a:p>
          <a:p>
            <a:pPr marL="0" indent="0">
              <a:buNone/>
            </a:pPr>
            <a:r>
              <a:rPr lang="es-ES" sz="4800" dirty="0"/>
              <a:t>Desarrollado con HTML, CSS y JavaScript. Se encarga de la interacción con el usuario mediante formularios de registro, inicio de sesión y visualización de perfiles.</a:t>
            </a:r>
          </a:p>
          <a:p>
            <a:pPr marL="0" indent="0">
              <a:buNone/>
            </a:pPr>
            <a:r>
              <a:rPr lang="es-ES" sz="4800" b="1" dirty="0" err="1"/>
              <a:t>Backend</a:t>
            </a:r>
            <a:endParaRPr lang="es-ES" sz="4800" b="1" dirty="0"/>
          </a:p>
          <a:p>
            <a:pPr marL="0" indent="0">
              <a:buNone/>
            </a:pPr>
            <a:r>
              <a:rPr lang="es-ES" sz="4800" dirty="0"/>
              <a:t>Implementado en Java utilizando Maven para la gestión del proyecto. Contiene toda la lógica de negocio, incluyendo la gestión de usuarios, registro de </a:t>
            </a:r>
            <a:r>
              <a:rPr lang="es-ES" sz="4800" dirty="0" err="1"/>
              <a:t>likes</a:t>
            </a:r>
            <a:r>
              <a:rPr lang="es-ES" sz="4800" dirty="0"/>
              <a:t>, comprobación de </a:t>
            </a:r>
            <a:r>
              <a:rPr lang="es-ES" sz="4800" dirty="0" err="1"/>
              <a:t>matches</a:t>
            </a:r>
            <a:r>
              <a:rPr lang="es-ES" sz="4800" dirty="0"/>
              <a:t> y generación de archivos XML.</a:t>
            </a:r>
          </a:p>
          <a:p>
            <a:pPr marL="0" indent="0">
              <a:buNone/>
            </a:pPr>
            <a:r>
              <a:rPr lang="es-ES" sz="4800" b="1" dirty="0"/>
              <a:t>Base de Datos</a:t>
            </a:r>
          </a:p>
          <a:p>
            <a:pPr marL="0" indent="0">
              <a:buNone/>
            </a:pPr>
            <a:r>
              <a:rPr lang="es-ES" sz="4800" dirty="0"/>
              <a:t>Desarrollada en </a:t>
            </a:r>
            <a:r>
              <a:rPr lang="es-ES" sz="4800" dirty="0" err="1"/>
              <a:t>MariaDB</a:t>
            </a:r>
            <a:r>
              <a:rPr lang="es-ES" sz="4800" dirty="0"/>
              <a:t>. Almacena la información de usuarios, tecnologías, </a:t>
            </a:r>
            <a:r>
              <a:rPr lang="es-ES" sz="4800" dirty="0" err="1"/>
              <a:t>likes</a:t>
            </a:r>
            <a:r>
              <a:rPr lang="es-ES" sz="4800" dirty="0"/>
              <a:t> y </a:t>
            </a:r>
            <a:r>
              <a:rPr lang="es-ES" sz="4800" dirty="0" err="1"/>
              <a:t>matches</a:t>
            </a:r>
            <a:r>
              <a:rPr lang="es-ES" sz="4800" dirty="0"/>
              <a:t>. También incluye procedimientos almacenados y </a:t>
            </a:r>
            <a:r>
              <a:rPr lang="es-ES" sz="4800" dirty="0" err="1"/>
              <a:t>triggers</a:t>
            </a:r>
            <a:r>
              <a:rPr lang="es-ES" sz="4800" dirty="0"/>
              <a:t> para automatizar determinadas operaciones.</a:t>
            </a:r>
          </a:p>
          <a:p>
            <a:pPr marL="0" indent="0">
              <a:buNone/>
            </a:pPr>
            <a:r>
              <a:rPr lang="es-ES" sz="4800" b="1" dirty="0"/>
              <a:t>Flujo de funcionamiento</a:t>
            </a:r>
          </a:p>
          <a:p>
            <a:pPr marL="0" indent="0">
              <a:buNone/>
            </a:pPr>
            <a:r>
              <a:rPr lang="es-ES" sz="4800" dirty="0"/>
              <a:t>Usuario → </a:t>
            </a:r>
            <a:r>
              <a:rPr lang="es-ES" sz="4800" dirty="0" err="1"/>
              <a:t>Frontend</a:t>
            </a:r>
            <a:r>
              <a:rPr lang="es-ES" sz="4800" dirty="0"/>
              <a:t> → </a:t>
            </a:r>
            <a:r>
              <a:rPr lang="es-ES" sz="4800" dirty="0" err="1"/>
              <a:t>Backend</a:t>
            </a:r>
            <a:r>
              <a:rPr lang="es-ES" sz="4800" dirty="0"/>
              <a:t> Java → </a:t>
            </a:r>
            <a:r>
              <a:rPr lang="es-ES" sz="4800" dirty="0" err="1"/>
              <a:t>MariaDB</a:t>
            </a:r>
            <a:endParaRPr lang="es-ES" sz="4800" dirty="0"/>
          </a:p>
          <a:p>
            <a:pPr marL="0" indent="0">
              <a:buNone/>
            </a:pPr>
            <a:r>
              <a:rPr lang="es-ES" sz="4800" dirty="0"/>
              <a:t>Cuando un usuario realiza una acción, el </a:t>
            </a:r>
            <a:r>
              <a:rPr lang="es-ES" sz="4800" dirty="0" err="1"/>
              <a:t>frontend</a:t>
            </a:r>
            <a:r>
              <a:rPr lang="es-ES" sz="4800" dirty="0"/>
              <a:t> envía la petición al </a:t>
            </a:r>
            <a:r>
              <a:rPr lang="es-ES" sz="4800" dirty="0" err="1"/>
              <a:t>backend</a:t>
            </a:r>
            <a:r>
              <a:rPr lang="es-ES" sz="4800" dirty="0"/>
              <a:t>. El </a:t>
            </a:r>
            <a:r>
              <a:rPr lang="es-ES" sz="4800" dirty="0" err="1"/>
              <a:t>backend</a:t>
            </a:r>
            <a:r>
              <a:rPr lang="es-ES" sz="4800" dirty="0"/>
              <a:t> procesa la información, consulta o modifica la base de datos y devuelve la respuesta correspondiente. Si se produce un match, se genera automáticamente un archivo XML con la información de la coincidencia.</a:t>
            </a:r>
          </a:p>
          <a:p>
            <a:pPr marL="0" indent="0">
              <a:buNone/>
            </a:pPr>
            <a:r>
              <a:rPr lang="es-ES" sz="4800" b="1" dirty="0"/>
              <a:t>Tecnologías utilizadas</a:t>
            </a:r>
          </a:p>
          <a:p>
            <a:pPr marL="0" indent="0">
              <a:buNone/>
            </a:pPr>
            <a:r>
              <a:rPr lang="es-ES" sz="4800" dirty="0"/>
              <a:t>Java 17 </a:t>
            </a:r>
          </a:p>
          <a:p>
            <a:pPr marL="0" indent="0">
              <a:buNone/>
            </a:pPr>
            <a:r>
              <a:rPr lang="es-ES" sz="4800" dirty="0"/>
              <a:t>Maven </a:t>
            </a:r>
          </a:p>
          <a:p>
            <a:pPr marL="0" indent="0">
              <a:buNone/>
            </a:pPr>
            <a:r>
              <a:rPr lang="es-ES" sz="4800" dirty="0" err="1"/>
              <a:t>MariaDB</a:t>
            </a:r>
            <a:r>
              <a:rPr lang="es-ES" sz="4800" dirty="0"/>
              <a:t> </a:t>
            </a:r>
          </a:p>
          <a:p>
            <a:pPr marL="0" indent="0">
              <a:buNone/>
            </a:pPr>
            <a:r>
              <a:rPr lang="es-ES" sz="4800" dirty="0"/>
              <a:t>JDBC 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FD516A-C264-EAEE-C5DC-BF524CF7C8C1}"/>
              </a:ext>
            </a:extLst>
          </p:cNvPr>
          <p:cNvSpPr txBox="1"/>
          <p:nvPr/>
        </p:nvSpPr>
        <p:spPr>
          <a:xfrm>
            <a:off x="1575054" y="4592288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HTML5 </a:t>
            </a:r>
          </a:p>
          <a:p>
            <a:endParaRPr lang="es-ES" sz="1200" dirty="0"/>
          </a:p>
          <a:p>
            <a:r>
              <a:rPr lang="es-ES" sz="1200" dirty="0"/>
              <a:t>CSS3 </a:t>
            </a:r>
          </a:p>
          <a:p>
            <a:endParaRPr lang="es-ES" sz="1200" dirty="0"/>
          </a:p>
          <a:p>
            <a:r>
              <a:rPr lang="es-ES" sz="1200" dirty="0"/>
              <a:t>JavaScript </a:t>
            </a:r>
          </a:p>
          <a:p>
            <a:endParaRPr lang="es-ES" sz="1200" dirty="0"/>
          </a:p>
          <a:p>
            <a:r>
              <a:rPr lang="es-ES" sz="1200" dirty="0"/>
              <a:t>XML </a:t>
            </a:r>
          </a:p>
          <a:p>
            <a:endParaRPr lang="es-ES" sz="1200" dirty="0"/>
          </a:p>
          <a:p>
            <a:r>
              <a:rPr lang="es-ES" sz="1200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2090672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8EDF99-CC52-F5CC-7503-D8ADDCA5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886968"/>
            <a:ext cx="10881360" cy="498348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ES" sz="4800" b="1"/>
              <a:t>Diseño de la Base de Datos</a:t>
            </a:r>
          </a:p>
          <a:p>
            <a:pPr marL="0" indent="0">
              <a:buNone/>
            </a:pPr>
            <a:r>
              <a:rPr lang="es-ES" sz="4800" b="1"/>
              <a:t>Tablas principales</a:t>
            </a:r>
          </a:p>
          <a:p>
            <a:pPr marL="0" indent="0">
              <a:buNone/>
            </a:pPr>
            <a:r>
              <a:rPr lang="es-ES" sz="4800" b="1"/>
              <a:t>Usuarios</a:t>
            </a:r>
            <a:endParaRPr lang="es-ES" sz="4800"/>
          </a:p>
          <a:p>
            <a:pPr marL="0" indent="0">
              <a:buNone/>
            </a:pPr>
            <a:r>
              <a:rPr lang="es-ES" sz="4800"/>
              <a:t>Datos personales y credenciales de acceso. </a:t>
            </a:r>
          </a:p>
          <a:p>
            <a:pPr marL="0" indent="0">
              <a:buNone/>
            </a:pPr>
            <a:r>
              <a:rPr lang="es-ES" sz="4800"/>
              <a:t>Información básica de cada usuario registrado. </a:t>
            </a:r>
          </a:p>
          <a:p>
            <a:pPr marL="0" indent="0">
              <a:buNone/>
            </a:pPr>
            <a:r>
              <a:rPr lang="es-ES" sz="4800" b="1"/>
              <a:t>Tecnologías</a:t>
            </a:r>
            <a:endParaRPr lang="es-ES" sz="4800"/>
          </a:p>
          <a:p>
            <a:pPr marL="0" indent="0">
              <a:buNone/>
            </a:pPr>
            <a:r>
              <a:rPr lang="es-ES" sz="4800"/>
              <a:t>Lenguajes y tecnologías disponibles en la plataforma. </a:t>
            </a:r>
          </a:p>
          <a:p>
            <a:pPr marL="0" indent="0">
              <a:buNone/>
            </a:pPr>
            <a:r>
              <a:rPr lang="es-ES" sz="4800" b="1"/>
              <a:t>Usuario_Tecnología</a:t>
            </a:r>
            <a:endParaRPr lang="es-ES" sz="4800"/>
          </a:p>
          <a:p>
            <a:pPr marL="0" indent="0">
              <a:buNone/>
            </a:pPr>
            <a:r>
              <a:rPr lang="es-ES" sz="4800"/>
              <a:t>Relación entre usuarios y tecnologías. </a:t>
            </a:r>
          </a:p>
          <a:p>
            <a:pPr marL="0" indent="0">
              <a:buNone/>
            </a:pPr>
            <a:r>
              <a:rPr lang="es-ES" sz="4800"/>
              <a:t>Permite asociar varios conocimientos a cada usuario. </a:t>
            </a:r>
          </a:p>
          <a:p>
            <a:pPr marL="0" indent="0">
              <a:buNone/>
            </a:pPr>
            <a:r>
              <a:rPr lang="es-ES" sz="4800" b="1"/>
              <a:t>Likes</a:t>
            </a:r>
            <a:endParaRPr lang="es-ES" sz="4800"/>
          </a:p>
          <a:p>
            <a:pPr marL="0" indent="0">
              <a:buNone/>
            </a:pPr>
            <a:r>
              <a:rPr lang="es-ES" sz="4800"/>
              <a:t>Registra los likes enviados entre usuarios. </a:t>
            </a:r>
          </a:p>
          <a:p>
            <a:pPr marL="0" indent="0">
              <a:buNone/>
            </a:pPr>
            <a:r>
              <a:rPr lang="es-ES" sz="4800" b="1"/>
              <a:t>Matches</a:t>
            </a:r>
            <a:endParaRPr lang="es-ES" sz="4800"/>
          </a:p>
          <a:p>
            <a:pPr marL="0" indent="0">
              <a:buNone/>
            </a:pPr>
            <a:r>
              <a:rPr lang="es-ES" sz="4800"/>
              <a:t>Almacena las coincidencias generadas automáticamente cuando existe interés mutuo.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9429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9AF0EAB-177A-D828-F2F4-07163A7C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02" y="20656"/>
            <a:ext cx="7408917" cy="66755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0147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40F24-BEDE-DB52-D580-56C7CE89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Backend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4A07CB-F98C-345A-6B73-5B63F314E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>
            <a:normAutofit fontScale="77500" lnSpcReduction="20000"/>
          </a:bodyPr>
          <a:lstStyle/>
          <a:p>
            <a:r>
              <a:rPr lang="es-ES" dirty="0" err="1"/>
              <a:t>Backend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├── </a:t>
            </a:r>
            <a:r>
              <a:rPr lang="es-ES" dirty="0" err="1"/>
              <a:t>ConexionBD</a:t>
            </a:r>
            <a:br>
              <a:rPr lang="es-ES" dirty="0"/>
            </a:br>
            <a:r>
              <a:rPr lang="es-ES" dirty="0"/>
              <a:t>│ └── Conexión con </a:t>
            </a:r>
            <a:r>
              <a:rPr lang="es-ES" dirty="0" err="1"/>
              <a:t>MariaDB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├── </a:t>
            </a:r>
            <a:r>
              <a:rPr lang="es-ES" dirty="0" err="1"/>
              <a:t>Models</a:t>
            </a:r>
            <a:br>
              <a:rPr lang="es-ES" dirty="0"/>
            </a:br>
            <a:r>
              <a:rPr lang="es-ES" dirty="0"/>
              <a:t>│ ├── Usuario</a:t>
            </a:r>
            <a:br>
              <a:rPr lang="es-ES" dirty="0"/>
            </a:br>
            <a:r>
              <a:rPr lang="es-ES" dirty="0"/>
              <a:t>│ └── </a:t>
            </a:r>
            <a:r>
              <a:rPr lang="es-ES" dirty="0" err="1"/>
              <a:t>Tecnologia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├── </a:t>
            </a:r>
            <a:r>
              <a:rPr lang="es-ES" dirty="0" err="1"/>
              <a:t>Services</a:t>
            </a:r>
            <a:br>
              <a:rPr lang="es-ES" dirty="0"/>
            </a:br>
            <a:r>
              <a:rPr lang="es-ES" dirty="0"/>
              <a:t>│ ├── </a:t>
            </a:r>
            <a:r>
              <a:rPr lang="es-ES" dirty="0" err="1"/>
              <a:t>UsuarioService</a:t>
            </a:r>
            <a:br>
              <a:rPr lang="es-ES" dirty="0"/>
            </a:br>
            <a:r>
              <a:rPr lang="es-ES" dirty="0"/>
              <a:t>│ ├── </a:t>
            </a:r>
            <a:r>
              <a:rPr lang="es-ES" dirty="0" err="1"/>
              <a:t>LikeService</a:t>
            </a:r>
            <a:br>
              <a:rPr lang="es-ES" dirty="0"/>
            </a:br>
            <a:r>
              <a:rPr lang="es-ES" dirty="0"/>
              <a:t>│ ├── </a:t>
            </a:r>
            <a:r>
              <a:rPr lang="es-ES" dirty="0" err="1"/>
              <a:t>MatchService</a:t>
            </a:r>
            <a:br>
              <a:rPr lang="es-ES" dirty="0"/>
            </a:br>
            <a:r>
              <a:rPr lang="es-ES" dirty="0"/>
              <a:t>│ ├── </a:t>
            </a:r>
            <a:r>
              <a:rPr lang="es-ES" dirty="0" err="1"/>
              <a:t>TecnologiaService</a:t>
            </a:r>
            <a:br>
              <a:rPr lang="es-ES" dirty="0"/>
            </a:br>
            <a:r>
              <a:rPr lang="es-ES" dirty="0"/>
              <a:t>│ └── </a:t>
            </a:r>
            <a:r>
              <a:rPr lang="es-ES" dirty="0" err="1"/>
              <a:t>XmlService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└── Main</a:t>
            </a:r>
            <a:br>
              <a:rPr lang="es-ES" dirty="0"/>
            </a:br>
            <a:r>
              <a:rPr lang="es-ES" dirty="0"/>
              <a:t>└── Punto de entrada de la aplicación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A9AA40-C787-BD76-2972-E6250B7AF453}"/>
              </a:ext>
            </a:extLst>
          </p:cNvPr>
          <p:cNvSpPr txBox="1"/>
          <p:nvPr/>
        </p:nvSpPr>
        <p:spPr>
          <a:xfrm>
            <a:off x="4299966" y="2441448"/>
            <a:ext cx="746836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dirty="0"/>
              <a:t>La conexión con la base de datos se realiza mediante la clase </a:t>
            </a:r>
            <a:r>
              <a:rPr lang="es-ES" sz="1400" dirty="0" err="1">
                <a:latin typeface="Courier New" panose="02070309020205020404" pitchFamily="49" charset="0"/>
              </a:rPr>
              <a:t>ConexionBD</a:t>
            </a:r>
            <a:r>
              <a:rPr lang="es-ES" sz="1400" dirty="0"/>
              <a:t>, que utiliza JDBC para establecer la comunicación con </a:t>
            </a:r>
            <a:r>
              <a:rPr lang="es-ES" sz="1400" dirty="0" err="1"/>
              <a:t>MariaDB</a:t>
            </a:r>
            <a:r>
              <a:rPr lang="es-ES" sz="1400" dirty="0"/>
              <a:t>. A partir de esta conexión, los distintos servicios pueden consultar, insertar o modificar información almacenada en las tablas del sistema.</a:t>
            </a:r>
          </a:p>
          <a:p>
            <a:pPr>
              <a:buNone/>
            </a:pPr>
            <a:endParaRPr lang="es-ES" sz="1400" dirty="0"/>
          </a:p>
          <a:p>
            <a:pPr>
              <a:buNone/>
            </a:pPr>
            <a:r>
              <a:rPr lang="es-ES" sz="1400" dirty="0"/>
              <a:t>La gestión de usuarios se realiza mediante la clase </a:t>
            </a:r>
            <a:r>
              <a:rPr lang="es-ES" sz="1400" dirty="0" err="1">
                <a:latin typeface="Courier New" panose="02070309020205020404" pitchFamily="49" charset="0"/>
              </a:rPr>
              <a:t>UsuarioService</a:t>
            </a:r>
            <a:r>
              <a:rPr lang="es-ES" sz="1400" dirty="0"/>
              <a:t>, encargada de operaciones como el registro, inicio de sesión y consulta de perfiles. Los datos de cada usuario se representan mediante la clase </a:t>
            </a:r>
            <a:r>
              <a:rPr lang="es-ES" sz="1400" dirty="0">
                <a:latin typeface="Courier New" panose="02070309020205020404" pitchFamily="49" charset="0"/>
              </a:rPr>
              <a:t>Usuario</a:t>
            </a:r>
            <a:r>
              <a:rPr lang="es-ES" sz="1400" dirty="0"/>
              <a:t>, que actúa como modelo de datos dentro de la aplicación.</a:t>
            </a:r>
          </a:p>
          <a:p>
            <a:pPr>
              <a:buNone/>
            </a:pPr>
            <a:endParaRPr lang="es-ES" sz="1400" dirty="0"/>
          </a:p>
          <a:p>
            <a:pPr>
              <a:buNone/>
            </a:pPr>
            <a:r>
              <a:rPr lang="es-ES" sz="1400" dirty="0"/>
              <a:t>La funcionalidad de los </a:t>
            </a:r>
            <a:r>
              <a:rPr lang="es-ES" sz="1400" dirty="0" err="1"/>
              <a:t>likes</a:t>
            </a:r>
            <a:r>
              <a:rPr lang="es-ES" sz="1400" dirty="0"/>
              <a:t> se implementa en </a:t>
            </a:r>
            <a:r>
              <a:rPr lang="es-ES" sz="1400" dirty="0" err="1">
                <a:latin typeface="Courier New" panose="02070309020205020404" pitchFamily="49" charset="0"/>
              </a:rPr>
              <a:t>LikeService</a:t>
            </a:r>
            <a:r>
              <a:rPr lang="es-ES" sz="1400" dirty="0"/>
              <a:t>, donde se registra el interés de un usuario por otro mediante inserciones en la tabla </a:t>
            </a:r>
            <a:r>
              <a:rPr lang="es-ES" sz="1400" dirty="0" err="1">
                <a:latin typeface="Courier New" panose="02070309020205020404" pitchFamily="49" charset="0"/>
              </a:rPr>
              <a:t>likes</a:t>
            </a:r>
            <a:r>
              <a:rPr lang="es-ES" sz="1400" dirty="0"/>
              <a:t>. Después de registrar cada </a:t>
            </a:r>
            <a:r>
              <a:rPr lang="es-ES" sz="1400" dirty="0" err="1"/>
              <a:t>like</a:t>
            </a:r>
            <a:r>
              <a:rPr lang="es-ES" sz="1400" dirty="0"/>
              <a:t>, el sistema comprueba si existe un match entre ambos usuarios utilizando la clase </a:t>
            </a:r>
            <a:r>
              <a:rPr lang="es-ES" sz="1400" dirty="0" err="1">
                <a:latin typeface="Courier New" panose="02070309020205020404" pitchFamily="49" charset="0"/>
              </a:rPr>
              <a:t>MatchService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071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9B8C3-DF1D-EA46-6DB4-635757A3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fronted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77A79E-1233-E9CA-CC1E-331BD5FF396D}"/>
              </a:ext>
            </a:extLst>
          </p:cNvPr>
          <p:cNvSpPr txBox="1"/>
          <p:nvPr/>
        </p:nvSpPr>
        <p:spPr>
          <a:xfrm>
            <a:off x="2980943" y="1225296"/>
            <a:ext cx="514388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Frontend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├── login.html</a:t>
            </a:r>
            <a:br>
              <a:rPr lang="es-ES" dirty="0"/>
            </a:br>
            <a:r>
              <a:rPr lang="es-ES" dirty="0"/>
              <a:t>│ └── Página de inicio de sesión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├── registro.html</a:t>
            </a:r>
            <a:br>
              <a:rPr lang="es-ES" dirty="0"/>
            </a:br>
            <a:r>
              <a:rPr lang="es-ES" dirty="0"/>
              <a:t>│ └── Formulario de registro de usuarios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├── perfiles.html</a:t>
            </a:r>
            <a:br>
              <a:rPr lang="es-ES" dirty="0"/>
            </a:br>
            <a:r>
              <a:rPr lang="es-ES" dirty="0"/>
              <a:t>│ └── Visualización de perfiles y sistema de </a:t>
            </a:r>
            <a:r>
              <a:rPr lang="es-ES" dirty="0" err="1"/>
              <a:t>likes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├── </a:t>
            </a:r>
            <a:r>
              <a:rPr lang="es-ES" dirty="0" err="1"/>
              <a:t>css</a:t>
            </a:r>
            <a:r>
              <a:rPr lang="es-ES" dirty="0"/>
              <a:t>/</a:t>
            </a:r>
            <a:br>
              <a:rPr lang="es-ES" dirty="0"/>
            </a:br>
            <a:r>
              <a:rPr lang="es-ES" dirty="0"/>
              <a:t>│ └── style.css</a:t>
            </a:r>
            <a:br>
              <a:rPr lang="es-ES" dirty="0"/>
            </a:br>
            <a:r>
              <a:rPr lang="es-ES" dirty="0"/>
              <a:t>│ └── Diseño y estilos de la aplicación</a:t>
            </a:r>
            <a:br>
              <a:rPr lang="es-ES" dirty="0"/>
            </a:br>
            <a:r>
              <a:rPr lang="es-ES" dirty="0"/>
              <a:t>│</a:t>
            </a:r>
            <a:br>
              <a:rPr lang="es-ES" dirty="0"/>
            </a:br>
            <a:r>
              <a:rPr lang="es-ES" dirty="0"/>
              <a:t>└── </a:t>
            </a:r>
            <a:r>
              <a:rPr lang="es-ES" dirty="0" err="1"/>
              <a:t>js</a:t>
            </a:r>
            <a:r>
              <a:rPr lang="es-ES" dirty="0"/>
              <a:t>/</a:t>
            </a:r>
            <a:br>
              <a:rPr lang="es-ES" dirty="0"/>
            </a:br>
            <a:r>
              <a:rPr lang="es-ES" dirty="0"/>
              <a:t>└── App.js</a:t>
            </a:r>
            <a:br>
              <a:rPr lang="es-ES" dirty="0"/>
            </a:br>
            <a:r>
              <a:rPr lang="es-ES" dirty="0"/>
              <a:t>└── Lógica e interacción con el </a:t>
            </a:r>
            <a:r>
              <a:rPr lang="es-ES" dirty="0" err="1"/>
              <a:t>backend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444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9B59689-FE88-0A2D-199D-C1BA014EF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961" r="-1" b="15164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0631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12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873F53-55B7-4E34-B697-201CF2F1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D90D0AA-A57E-2DE9-0CE8-B7B30687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25D68F6-7674-9F2B-CC5D-4216F8EE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5504"/>
          <a:stretch>
            <a:fillRect/>
          </a:stretch>
        </p:blipFill>
        <p:spPr>
          <a:xfrm>
            <a:off x="1105544" y="0"/>
            <a:ext cx="9977863" cy="685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6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E5140-774F-805A-AC92-E42A3C96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D07F84-2C5D-BB96-2B87-34853C6C4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9F73F4-940F-5CA3-D4C2-0FA3E0B08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94" y="251209"/>
            <a:ext cx="11813355" cy="648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21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1F272-534C-EF1F-C7C2-6D4627C3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Pruebas de funcionamiento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4CA76-C763-6BBE-7B28-35BC3DC69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7BC44B-34D2-4AE8-8434-8118D4D5C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8" y="2441448"/>
            <a:ext cx="11584556" cy="40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53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5D0A4-AD47-5EAA-12C0-0639757C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1A9E4-F62B-EB72-6B9A-5CD852E77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1A3486-01D9-29F9-DB9A-EE406E007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40" y="997396"/>
            <a:ext cx="11045308" cy="22281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3664907-A48F-932C-E77F-9E3FFA712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57" y="3429000"/>
            <a:ext cx="10573761" cy="310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8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FE6202-2B95-768B-78B2-E881C903C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24" y="0"/>
            <a:ext cx="77756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0561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807</Words>
  <Application>Microsoft Office PowerPoint</Application>
  <PresentationFormat>Panorámica</PresentationFormat>
  <Paragraphs>67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Bierstadt</vt:lpstr>
      <vt:lpstr>Courier New</vt:lpstr>
      <vt:lpstr>GestaltVTI</vt:lpstr>
      <vt:lpstr>       PROYECTO LOVECODE</vt:lpstr>
      <vt:lpstr>Introducción</vt:lpstr>
      <vt:lpstr>Objetivos del proyecto</vt:lpstr>
      <vt:lpstr>Presentación de PowerPoint</vt:lpstr>
      <vt:lpstr>Presentación de PowerPoint</vt:lpstr>
      <vt:lpstr>Presentación de PowerPoint</vt:lpstr>
      <vt:lpstr>Backend</vt:lpstr>
      <vt:lpstr>fronted</vt:lpstr>
      <vt:lpstr>Presentación de PowerPoint</vt:lpstr>
      <vt:lpstr>Presentación de PowerPoint</vt:lpstr>
      <vt:lpstr>Presentación de PowerPoint</vt:lpstr>
      <vt:lpstr>Pruebas de funcionamiento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rossilopezmanuel@outlook.com</dc:creator>
  <cp:lastModifiedBy>MANUEL ROSSI LÓPEZ</cp:lastModifiedBy>
  <cp:revision>2</cp:revision>
  <dcterms:created xsi:type="dcterms:W3CDTF">2026-04-16T10:30:44Z</dcterms:created>
  <dcterms:modified xsi:type="dcterms:W3CDTF">2026-05-31T19:23:04Z</dcterms:modified>
</cp:coreProperties>
</file>